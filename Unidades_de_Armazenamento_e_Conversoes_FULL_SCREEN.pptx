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62" r:id="rId5"/>
    <p:sldId id="263" r:id="rId21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Slide" Target="notesSlides/notesSlide1.xml"/><Relationship Id="rId16" Type="http://schemas.openxmlformats.org/officeDocument/2006/relationships/notesSlide" Target="notesSlides/notesSlide2.xml"/><Relationship Id="rId17" Type="http://schemas.openxmlformats.org/officeDocument/2006/relationships/notesSlide" Target="notesSlides/notesSlide3.xml"/><Relationship Id="rId18" Type="http://schemas.openxmlformats.org/officeDocument/2006/relationships/notesSlide" Target="notesSlides/notesSlide4.xml"/><Relationship Id="rId19" Type="http://schemas.openxmlformats.org/officeDocument/2006/relationships/notesSlide" Target="notesSlides/notesSlide5.xml"/><Relationship Id="rId20" Type="http://schemas.openxmlformats.org/officeDocument/2006/relationships/notesSlide" Target="notesSlides/notesSlide6.xml"/><Relationship Id="rId21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notesSlide" Target="../notesSlides/notesSlide6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  <a:alphaModFix amt="50000"/>
          </a:blip>
          <a:srcRect/>
          <a:stretch>
            <a:fillRect l="-390" t="0" r="-39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B0F14">
                  <a:alpha val="40000"/>
                </a:srgbClr>
              </a:gs>
              <a:gs pos="100000">
                <a:srgbClr val="0B0F14">
                  <a:alpha val="9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101600" rIns="101600" tIns="101600" bIns="1016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270000" y="2540000"/>
            <a:ext cx="965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01600" rIns="101600" tIns="101600" bIns="101600">
            <a:normAutofit fontScale="100000" lnSpcReduction="1000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64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Bits e sistemas binários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3937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2D9C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 linguagem das máquinas e como medimos o mundo digital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461000" y="4826000"/>
            <a:ext cx="1270000" cy="50800"/>
          </a:xfrm>
          <a:prstGeom prst="roundRect">
            <a:avLst>
              <a:gd name="adj" fmla="val 0"/>
            </a:avLst>
          </a:prstGeom>
          <a:solidFill>
            <a:srgbClr val="2D9C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101600" rIns="101600" tIns="101600" bIns="1016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508000"/>
            <a:ext cx="5588000" cy="5842000"/>
          </a:xfrm>
          <a:prstGeom prst="roundRect">
            <a:avLst>
              <a:gd name="adj" fmla="val 2727"/>
            </a:avLst>
          </a:prstGeom>
          <a:solidFill>
            <a:srgbClr val="141A23">
              <a:alpha val="100000"/>
            </a:srgbClr>
          </a:solidFill>
          <a:ln w="12700" cmpd="sng" cap="flat">
            <a:solidFill>
              <a:srgbClr val="2D9C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101600" rIns="101600" tIns="101600" bIns="1016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889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2D9C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é um bit?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1778000"/>
            <a:ext cx="4826000" cy="381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Menor unidade de informação</a:t>
            </a:r>
            <a:r>
              <a:rPr lang="en-US" b="false" i="false" strike="noStrike" u="none" sz="20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20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A palavra BIT vem de </a:t>
            </a:r>
            <a:r>
              <a:rPr lang="en-US" b="false" i="true" strike="noStrike" u="none" sz="20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Binary Digit</a:t>
            </a:r>
            <a:r>
              <a:rPr lang="en-US" b="false" i="false" strike="noStrike" u="none" sz="20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indent="-254000" marL="254000">
              <a:lnSpc>
                <a:spcPct val="100000"/>
              </a:lnSpc>
              <a:buClr>
                <a:srgbClr val="C9D4E5"/>
              </a:buClr>
              <a:buChar char="•"/>
            </a:pPr>
            <a:r>
              <a:rPr lang="en-US" b="false" i="false" strike="noStrike" u="none" sz="20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Possui apenas </a:t>
            </a:r>
            <a:r>
              <a:rPr lang="en-US" b="true" i="false" strike="noStrike" u="none" sz="2000">
                <a:solidFill>
                  <a:srgbClr val="2D9CFF"/>
                </a:solidFill>
                <a:latin typeface="Inter"/>
                <a:ea typeface="Inter"/>
                <a:cs typeface="Inter"/>
                <a:sym typeface="Inter"/>
              </a:rPr>
              <a:t>dois estados</a:t>
            </a:r>
            <a:r>
              <a:rPr lang="en-US" b="false" i="false" strike="noStrike" u="none" sz="20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: 0 ou 1.</a:t>
            </a:r>
          </a:p>
          <a:p>
            <a:pPr algn="l" indent="-254000" marL="254000">
              <a:lnSpc>
                <a:spcPct val="100000"/>
              </a:lnSpc>
              <a:buClr>
                <a:srgbClr val="C9D4E5"/>
              </a:buClr>
              <a:buChar char="•"/>
            </a:pPr>
            <a:r>
              <a:rPr lang="en-US" b="false" i="false" strike="noStrike" u="none" sz="20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Ideal para representar estados como:</a:t>
            </a:r>
          </a:p>
          <a:p>
            <a:pPr algn="l" indent="-254000" marL="254000">
              <a:lnSpc>
                <a:spcPct val="100000"/>
              </a:lnSpc>
              <a:buClr>
                <a:srgbClr val="C9D4E5"/>
              </a:buClr>
              <a:buChar char="•"/>
            </a:pPr>
            <a:r>
              <a:rPr lang="en-US" b="false" i="false" strike="noStrike" u="none" sz="20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- Desligado (0) / Ligado (1)</a:t>
            </a:r>
          </a:p>
          <a:p>
            <a:pPr algn="l" indent="-254000" marL="254000">
              <a:lnSpc>
                <a:spcPct val="100000"/>
              </a:lnSpc>
              <a:buClr>
                <a:srgbClr val="C9D4E5"/>
              </a:buClr>
              <a:buChar char="•"/>
            </a:pPr>
            <a:r>
              <a:rPr lang="en-US" b="false" i="false" strike="noStrike" u="none" sz="20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- Falso (0) / Verdadeiro (1)</a:t>
            </a:r>
          </a:p>
          <a:p>
            <a:pPr algn="l" indent="-254000" marL="254000">
              <a:lnSpc>
                <a:spcPct val="100000"/>
              </a:lnSpc>
              <a:buClr>
                <a:srgbClr val="C9D4E5"/>
              </a:buClr>
              <a:buChar char="•"/>
            </a:pPr>
            <a:r>
              <a:rPr lang="en-US" b="false" i="false" strike="noStrike" u="none" sz="20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- Sem carga / Com carga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103" b="103"/>
          <a:stretch>
            <a:fillRect/>
          </a:stretch>
        </p:blipFill>
        <p:spPr>
          <a:xfrm rot="0" flipH="false" flipV="false">
            <a:off x="6604000" y="1778000"/>
            <a:ext cx="5080000" cy="3302000"/>
          </a:xfrm>
          <a:prstGeom prst="roundRect">
            <a:avLst>
              <a:gd name="adj" fmla="val 461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6604000" y="5207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C9D4E5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Representação conceitual: 0 (Apagado) e 1 (Aceso)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0F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01600" rIns="101600" tIns="101600" bIns="101600">
            <a:normAutofit fontScale="100000" lnSpcReduction="1000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Binário: A Base 2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1524000"/>
            <a:ext cx="10922000" cy="1905000"/>
          </a:xfrm>
          <a:prstGeom prst="roundRect">
            <a:avLst>
              <a:gd name="adj" fmla="val 8000"/>
            </a:avLst>
          </a:prstGeom>
          <a:solidFill>
            <a:srgbClr val="141A23">
              <a:alpha val="100000"/>
            </a:srgbClr>
          </a:solidFill>
          <a:ln w="12700" cmpd="sng" cap="flat">
            <a:solidFill>
              <a:srgbClr val="2D9C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101600" rIns="101600" tIns="101600" bIns="1016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No sistema decimal, usamos base 10. No binário, usamos </a:t>
            </a:r>
            <a:r>
              <a:rPr lang="en-US" b="tru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potências de 2</a:t>
            </a: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Cada posição (da direita para esquerda) vale o dobro da anterior:</a:t>
            </a:r>
          </a:p>
          <a:p>
            <a:pPr algn="ctr" indent="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2D9CFF"/>
                </a:solidFill>
                <a:latin typeface="Inter"/>
                <a:ea typeface="Inter"/>
                <a:cs typeface="Inter"/>
                <a:sym typeface="Inter"/>
              </a:rPr>
              <a:t>... 16 | 8 | 4 | 2 | 1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38100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01600" rIns="101600" tIns="101600" bIns="101600">
            <a:normAutofit fontScale="100000" lnSpcReduction="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2D9C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Exemplo: Transformando 1011 para Decimal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191000" y="4572000"/>
            <a:ext cx="3810000" cy="1524000"/>
          </a:xfrm>
          <a:prstGeom prst="roundRect">
            <a:avLst>
              <a:gd name="adj" fmla="val 10000"/>
            </a:avLst>
          </a:prstGeom>
          <a:solidFill>
            <a:srgbClr val="2D9CFF">
              <a:alpha val="10000"/>
            </a:srgbClr>
          </a:solidFill>
          <a:ln w="25400" cmpd="sng" cap="flat">
            <a:solidFill>
              <a:srgbClr val="2D9C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101600" rIns="101600" tIns="101600" bIns="1016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18000" y="4826000"/>
            <a:ext cx="355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01600" rIns="101600" tIns="101600" bIns="101600">
            <a:normAutofit fontScale="100000" lnSpcReduction="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1011₂</a:t>
            </a:r>
            <a:r>
              <a:rPr lang="en-US" b="false" i="false" strike="noStrike" u="none" sz="24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C9D4E5"/>
                </a:solidFill>
                <a:latin typeface="Space Grotesk"/>
                <a:ea typeface="Space Grotesk"/>
                <a:cs typeface="Space Grotesk"/>
                <a:sym typeface="Space Grotesk"/>
              </a:rPr>
              <a:t>(8 + 0 + 2 + 1) = </a:t>
            </a:r>
            <a:r>
              <a:rPr lang="en-US" b="true" i="false" strike="noStrike" u="none" sz="1800">
                <a:solidFill>
                  <a:srgbClr val="2D9C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11₁₀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2D9C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Byte: O Pacote de Informação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1397000"/>
            <a:ext cx="10922000" cy="1270000"/>
          </a:xfrm>
          <a:prstGeom prst="roundRect">
            <a:avLst>
              <a:gd name="adj" fmla="val 12000"/>
            </a:avLst>
          </a:prstGeom>
          <a:solidFill>
            <a:srgbClr val="2D9CFF">
              <a:alpha val="15000"/>
            </a:srgbClr>
          </a:solidFill>
          <a:ln w="12700" cmpd="sng" cap="flat">
            <a:solidFill>
              <a:srgbClr val="2D9C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101600" rIns="101600" tIns="101600" bIns="1016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01600" rIns="101600" tIns="101600" bIns="101600">
            <a:normAutofit fontScale="100000" lnSpcReduction="2000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“Um byte é uma unidade básica de armazenamento usada pelo computador para guardar informações.”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2921000"/>
            <a:ext cx="5080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1 Byte = 8 Bits</a:t>
            </a: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Agrupando 8 bits, conseguimos representar 256 valores diferentes.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É o suficiente para guardar uma letra (ASCII), um número pequeno ou uma cor.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096000" y="2921000"/>
            <a:ext cx="5461000" cy="304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101600" blurRad="190500" algn="tl" rotWithShape="false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1000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Escalas de Medida: KB, MB, GB e TB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1270000"/>
            <a:ext cx="5334000" cy="4826000"/>
          </a:xfrm>
          <a:prstGeom prst="roundRect">
            <a:avLst>
              <a:gd name="adj" fmla="val 3157"/>
            </a:avLst>
          </a:prstGeom>
          <a:solidFill>
            <a:srgbClr val="141A2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101600" rIns="101600" tIns="101600" bIns="1016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1524000"/>
            <a:ext cx="4826000" cy="431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D9CFF"/>
                </a:solidFill>
                <a:latin typeface="Inter"/>
                <a:ea typeface="Inter"/>
                <a:cs typeface="Inter"/>
                <a:sym typeface="Inter"/>
              </a:rPr>
              <a:t>Regra de Conversão:</a:t>
            </a: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• Cada nível é </a:t>
            </a:r>
            <a:r>
              <a:rPr lang="en-US" b="true" i="false" strike="noStrike" u="none" sz="180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1.000x</a:t>
            </a: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 maior que o anterior.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2D9CFF"/>
                </a:solidFill>
                <a:latin typeface="Inter"/>
                <a:ea typeface="Inter"/>
                <a:cs typeface="Inter"/>
                <a:sym typeface="Inter"/>
              </a:rPr>
              <a:t>Exemplos:</a:t>
            </a: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• 2 Fotos de 5 MB = </a:t>
            </a:r>
            <a:r>
              <a:rPr lang="en-US" b="tru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10 MB</a:t>
            </a: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• 1.000 fotos de 5 MB = 5.000 MB → </a:t>
            </a:r>
            <a:r>
              <a:rPr lang="en-US" b="true" i="false" strike="noStrike" u="none" sz="1800">
                <a:solidFill>
                  <a:srgbClr val="2D9CFF"/>
                </a:solidFill>
                <a:latin typeface="Inter"/>
                <a:ea typeface="Inter"/>
                <a:cs typeface="Inter"/>
                <a:sym typeface="Inter"/>
              </a:rPr>
              <a:t>5 GB</a:t>
            </a: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Nota: Tecnicamente, sistemas usam base 1024 (1 KB = 1024 Bytes), mas para cálculos rápidos usamos 1000.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404" r="404" t="0" b="0"/>
          <a:stretch>
            <a:fillRect/>
          </a:stretch>
        </p:blipFill>
        <p:spPr>
          <a:xfrm rot="0" flipH="false" flipV="false">
            <a:off x="6350000" y="1270000"/>
            <a:ext cx="5207000" cy="3937000"/>
          </a:xfrm>
          <a:prstGeom prst="roundRect">
            <a:avLst>
              <a:gd name="adj" fmla="val 387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350000" y="5334000"/>
            <a:ext cx="520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C9D4E5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Escala de Unidades (Base 1024)</a:t>
            </a:r>
            <a:br>
              <a:rPr lang="en-US" b="false" i="false" strike="noStrike" u="none" sz="1600">
                <a:solidFill>
                  <a:srgbClr val="C9D4E5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C9D4E5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 diferença visual entre 1 Byte e 1 Terabyte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635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01600" rIns="101600" tIns="101600" bIns="101600">
            <a:normAutofit fontScale="100000" lnSpcReduction="1000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2D9C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Conclusão e Dia a Dia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1905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141A2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101600" rIns="101600" tIns="101600" bIns="1016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968500" y="2159000"/>
            <a:ext cx="635000" cy="635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292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Fotos</a:t>
            </a: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3 a 5 MB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905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141A2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101600" rIns="101600" tIns="101600" bIns="1016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78500" y="2159000"/>
            <a:ext cx="635000" cy="635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572000" y="292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Vídeos</a:t>
            </a: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100 MB ou mais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255000" y="1905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141A2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101600" rIns="101600" tIns="101600" bIns="1016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88500" y="2159000"/>
            <a:ext cx="635000" cy="635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8382000" y="292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>
            <a:normAutofit fontScale="100000" lnSpcReduction="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Celulares</a:t>
            </a: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800">
                <a:solidFill>
                  <a:srgbClr val="C9D4E5"/>
                </a:solidFill>
                <a:latin typeface="Inter"/>
                <a:ea typeface="Inter"/>
                <a:cs typeface="Inter"/>
                <a:sym typeface="Inter"/>
              </a:rPr>
              <a:t>64 GB a 512 GB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445000"/>
            <a:ext cx="965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01600" rIns="101600" tIns="101600" bIns="101600">
            <a:normAutofit fontScale="100000" lnSpcReduction="0"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Obrigado! Agora você sabe como o computador pensa em bits e como gerenciar seu espaço digital.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